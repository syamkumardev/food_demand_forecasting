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Avg demand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2290</c:v>
                </c:pt>
                <c:pt idx="1">
                  <c:v>1993</c:v>
                </c:pt>
                <c:pt idx="2">
                  <c:v>1885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974.8</c:v>
                </c:pt>
                <c:pt idx="1">
                  <c:v>611.4</c:v>
                </c:pt>
                <c:pt idx="2">
                  <c:v>578.1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159-41DD-A91E-6177634AA79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R²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Random Forest</c:v>
                </c:pt>
                <c:pt idx="1">
                  <c:v>Extra Trees</c:v>
                </c:pt>
                <c:pt idx="2">
                  <c:v>Gradient Boosting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0.49740000000000001</c:v>
                </c:pt>
                <c:pt idx="1">
                  <c:v>0.56120000000000003</c:v>
                </c:pt>
                <c:pt idx="2">
                  <c:v>0.60740000000000005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B5C-48CC-9993-2AD474472D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7"/>
          <c:min val="0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8961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ptos"/>
              </a:defRPr>
            </a:pPr>
            <a:r>
              <a:t>Food Demand Forecasting</a:t>
            </a:r>
            <a:br/>
            <a:r>
              <a:t>&amp; Surplus Estimation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8869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CFDEEB"/>
                </a:solidFill>
                <a:latin typeface="Aptos"/>
              </a:defRPr>
            </a:pPr>
            <a:r>
              <a:t>An ML-based decision-support system for better food preparation planning</a:t>
            </a:r>
          </a:p>
        </p:txBody>
      </p:sp>
      <p:pic>
        <p:nvPicPr>
          <p:cNvPr id="5" name="Picture 4" descr="ddf9e344-4785-467b-80f7-83424b4b49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128016"/>
            <a:ext cx="1600200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92840" y="6409944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28600"/>
            <a:ext cx="6126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0BECA"/>
                </a:solidFill>
                <a:latin typeface="Aptos"/>
              </a:defRPr>
            </a:pPr>
            <a:r>
              <a:t>SENSORSPINE  •  THE UNIFIED INTELLIGENCE ECOSYSTEM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60520"/>
            <a:ext cx="1600200" cy="960120"/>
          </a:xfrm>
          <a:prstGeom prst="roundRect">
            <a:avLst/>
          </a:prstGeom>
          <a:solidFill>
            <a:srgbClr val="183049"/>
          </a:solidFill>
          <a:ln>
            <a:solidFill>
              <a:srgbClr val="3A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4416552"/>
            <a:ext cx="1600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DATA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359152" y="4636008"/>
            <a:ext cx="228600" cy="0"/>
          </a:xfrm>
          <a:prstGeom prst="line">
            <a:avLst/>
          </a:prstGeom>
          <a:ln w="25400">
            <a:solidFill>
              <a:srgbClr val="69C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651760" y="4160520"/>
            <a:ext cx="1600200" cy="960120"/>
          </a:xfrm>
          <a:prstGeom prst="roundRect">
            <a:avLst/>
          </a:prstGeom>
          <a:solidFill>
            <a:srgbClr val="183049"/>
          </a:solidFill>
          <a:ln>
            <a:solidFill>
              <a:srgbClr val="3A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51760" y="4416552"/>
            <a:ext cx="1600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ML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279392" y="4636008"/>
            <a:ext cx="228600" cy="0"/>
          </a:xfrm>
          <a:prstGeom prst="line">
            <a:avLst/>
          </a:prstGeom>
          <a:ln w="25400">
            <a:solidFill>
              <a:srgbClr val="69C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572000" y="4160520"/>
            <a:ext cx="1600200" cy="960120"/>
          </a:xfrm>
          <a:prstGeom prst="roundRect">
            <a:avLst/>
          </a:prstGeom>
          <a:solidFill>
            <a:srgbClr val="183049"/>
          </a:solidFill>
          <a:ln>
            <a:solidFill>
              <a:srgbClr val="3A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0" y="4416552"/>
            <a:ext cx="1600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DEMAND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199632" y="4636008"/>
            <a:ext cx="228599" cy="0"/>
          </a:xfrm>
          <a:prstGeom prst="line">
            <a:avLst/>
          </a:prstGeom>
          <a:ln w="25400">
            <a:solidFill>
              <a:srgbClr val="69C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492240" y="4160520"/>
            <a:ext cx="1600200" cy="960120"/>
          </a:xfrm>
          <a:prstGeom prst="roundRect">
            <a:avLst/>
          </a:prstGeom>
          <a:solidFill>
            <a:srgbClr val="183049"/>
          </a:solidFill>
          <a:ln>
            <a:solidFill>
              <a:srgbClr val="3A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4416552"/>
            <a:ext cx="1600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337560"/>
            <a:ext cx="7772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0">
                <a:solidFill>
                  <a:srgbClr val="DAE7F2"/>
                </a:solidFill>
                <a:latin typeface="Aptos"/>
              </a:defRPr>
            </a:pPr>
            <a:r>
              <a:t>From historical food-order data to practical preparation decisions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5532120"/>
            <a:ext cx="5303520" cy="713232"/>
          </a:xfrm>
          <a:prstGeom prst="roundRect">
            <a:avLst/>
          </a:prstGeom>
          <a:solidFill>
            <a:srgbClr val="183049"/>
          </a:solidFill>
          <a:ln>
            <a:solidFill>
              <a:srgbClr val="3A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2688" y="5650992"/>
            <a:ext cx="47548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rPr dirty="0"/>
              <a:t>Presented by  </a:t>
            </a:r>
            <a:r>
              <a:rPr lang="en-US" dirty="0" err="1"/>
              <a:t>Appikatla</a:t>
            </a:r>
            <a:r>
              <a:rPr lang="en-US" dirty="0"/>
              <a:t> </a:t>
            </a:r>
            <a:r>
              <a:rPr dirty="0"/>
              <a:t>Syam Kumar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5897880"/>
            <a:ext cx="4754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4D8E6"/>
                </a:solidFill>
                <a:latin typeface="Aptos"/>
              </a:defRPr>
            </a:pPr>
            <a:r>
              <a:t>CSE (AI &amp; ML)  •  NRI Institute of Technology, Vijayawada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89611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0B1F37"/>
                </a:solidFill>
                <a:latin typeface="Aptos"/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04672"/>
            <a:ext cx="8869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5B6C7B"/>
                </a:solidFill>
                <a:latin typeface="Aptos"/>
              </a:defRPr>
            </a:pPr>
            <a:r>
              <a:t>A simple story: problem → data → ML → application → results</a:t>
            </a:r>
          </a:p>
        </p:txBody>
      </p:sp>
      <p:pic>
        <p:nvPicPr>
          <p:cNvPr id="5" name="Picture 4" descr="ddf9e344-4785-467b-80f7-83424b4b49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128016"/>
            <a:ext cx="1600200" cy="60350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7"/>
            <a:ext cx="12191695" cy="146304"/>
          </a:xfrm>
          <a:prstGeom prst="rect">
            <a:avLst/>
          </a:prstGeom>
          <a:solidFill>
            <a:srgbClr val="20BE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92840" y="6409944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5B6C7B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261872"/>
            <a:ext cx="5577840" cy="329184"/>
          </a:xfrm>
          <a:prstGeom prst="roundRect">
            <a:avLst/>
          </a:prstGeom>
          <a:solidFill>
            <a:srgbClr val="E8F5FA"/>
          </a:solidFill>
          <a:ln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1307592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375B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303019"/>
            <a:ext cx="4663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0B1F37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00784"/>
            <a:ext cx="5577840" cy="329184"/>
          </a:xfrm>
          <a:prstGeom prst="roundRect">
            <a:avLst/>
          </a:prstGeom>
          <a:solidFill>
            <a:srgbClr val="FFFFFF"/>
          </a:solidFill>
          <a:ln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1832" y="1746504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375B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1741931"/>
            <a:ext cx="4663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0B1F37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139696"/>
            <a:ext cx="5577840" cy="329184"/>
          </a:xfrm>
          <a:prstGeom prst="roundRect">
            <a:avLst/>
          </a:prstGeom>
          <a:solidFill>
            <a:srgbClr val="E8F5FA"/>
          </a:solidFill>
          <a:ln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1832" y="2185415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375B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2180844"/>
            <a:ext cx="4663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0B1F37"/>
                </a:solidFill>
                <a:latin typeface="Aptos"/>
              </a:defRPr>
            </a:pPr>
            <a:r>
              <a:t>Our Solution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2578608"/>
            <a:ext cx="5577840" cy="329184"/>
          </a:xfrm>
          <a:prstGeom prst="roundRect">
            <a:avLst/>
          </a:prstGeom>
          <a:solidFill>
            <a:srgbClr val="FFFFFF"/>
          </a:solidFill>
          <a:ln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1832" y="2624327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375B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2619756"/>
            <a:ext cx="4663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0B1F37"/>
                </a:solidFill>
                <a:latin typeface="Aptos"/>
              </a:defRPr>
            </a:pPr>
            <a:r>
              <a:t>Dataset &amp; Data Understanding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017520"/>
            <a:ext cx="5577840" cy="329184"/>
          </a:xfrm>
          <a:prstGeom prst="roundRect">
            <a:avLst/>
          </a:prstGeom>
          <a:solidFill>
            <a:srgbClr val="E8F5FA"/>
          </a:solidFill>
          <a:ln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41832" y="3063239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375B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3058668"/>
            <a:ext cx="4663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0B1F37"/>
                </a:solidFill>
                <a:latin typeface="Aptos"/>
              </a:defRPr>
            </a:pPr>
            <a:r>
              <a:t>Data Preprocessing &amp; EDA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3456432"/>
            <a:ext cx="5577840" cy="329184"/>
          </a:xfrm>
          <a:prstGeom prst="roundRect">
            <a:avLst/>
          </a:prstGeom>
          <a:solidFill>
            <a:srgbClr val="FFFFFF"/>
          </a:solidFill>
          <a:ln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41832" y="3502151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375B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3497579"/>
            <a:ext cx="4663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0B1F37"/>
                </a:solidFill>
                <a:latin typeface="Aptos"/>
              </a:defRPr>
            </a:pPr>
            <a:r>
              <a:t>Machine Learning Models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3895344"/>
            <a:ext cx="5577840" cy="329184"/>
          </a:xfrm>
          <a:prstGeom prst="roundRect">
            <a:avLst/>
          </a:prstGeom>
          <a:solidFill>
            <a:srgbClr val="E8F5FA"/>
          </a:solidFill>
          <a:ln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41832" y="3941063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375BF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3936491"/>
            <a:ext cx="4663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0B1F37"/>
                </a:solidFill>
                <a:latin typeface="Aptos"/>
              </a:defRPr>
            </a:pPr>
            <a:r>
              <a:t>Model Results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4334256"/>
            <a:ext cx="5577840" cy="329184"/>
          </a:xfrm>
          <a:prstGeom prst="roundRect">
            <a:avLst/>
          </a:prstGeom>
          <a:solidFill>
            <a:srgbClr val="FFFFFF"/>
          </a:solidFill>
          <a:ln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41832" y="4379976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375BF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20" y="4375404"/>
            <a:ext cx="4663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0B1F37"/>
                </a:solidFill>
                <a:latin typeface="Aptos"/>
              </a:defRPr>
            </a:pPr>
            <a:r>
              <a:t>Streamlit Application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4773168"/>
            <a:ext cx="5577840" cy="329184"/>
          </a:xfrm>
          <a:prstGeom prst="roundRect">
            <a:avLst/>
          </a:prstGeom>
          <a:solidFill>
            <a:srgbClr val="E8F5FA"/>
          </a:solidFill>
          <a:ln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41832" y="4818888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375BF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17320" y="4814316"/>
            <a:ext cx="4663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0B1F37"/>
                </a:solidFill>
                <a:latin typeface="Aptos"/>
              </a:defRPr>
            </a:pPr>
            <a:r>
              <a:t>Testing, CI/CD &amp; Deployment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" y="5212080"/>
            <a:ext cx="5577840" cy="329184"/>
          </a:xfrm>
          <a:prstGeom prst="roundRect">
            <a:avLst/>
          </a:prstGeom>
          <a:solidFill>
            <a:srgbClr val="FFFFFF"/>
          </a:solidFill>
          <a:ln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41832" y="5257800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375BF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17320" y="5253228"/>
            <a:ext cx="4663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0B1F37"/>
                </a:solidFill>
                <a:latin typeface="Aptos"/>
              </a:defRPr>
            </a:pPr>
            <a:r>
              <a:t>Future Improvements &amp; Conclusion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12280" y="1508760"/>
            <a:ext cx="41605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812280" y="1508760"/>
            <a:ext cx="68580" cy="3566160"/>
          </a:xfrm>
          <a:prstGeom prst="rect">
            <a:avLst/>
          </a:prstGeom>
          <a:solidFill>
            <a:srgbClr val="20BE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022592" y="1673351"/>
            <a:ext cx="379475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0B1F37"/>
                </a:solidFill>
                <a:latin typeface="Aptos"/>
              </a:defRPr>
            </a:pPr>
            <a:r>
              <a:t>Presentation Flow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22592" y="2148839"/>
            <a:ext cx="3776472" cy="2807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1F2B39"/>
                </a:solidFill>
                <a:latin typeface="Aptos"/>
              </a:defRPr>
            </a:pPr>
            <a:r>
              <a:t>Start with the real-world planning problem.</a:t>
            </a:r>
            <a:br/>
            <a:br/>
            <a:r>
              <a:t>See how the data is prepared.</a:t>
            </a:r>
            <a:br/>
            <a:br/>
            <a:r>
              <a:t>Understand the ML model and results.</a:t>
            </a:r>
            <a:br/>
            <a:br/>
            <a:r>
              <a:t>Finish with the working Streamlit application and deployment.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89611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0B1F37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04672"/>
            <a:ext cx="8869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5B6C7B"/>
                </a:solidFill>
                <a:latin typeface="Aptos"/>
              </a:defRPr>
            </a:pPr>
            <a:r>
              <a:t>What the project does in one minute</a:t>
            </a:r>
          </a:p>
        </p:txBody>
      </p:sp>
      <p:pic>
        <p:nvPicPr>
          <p:cNvPr id="5" name="Picture 4" descr="ddf9e344-4785-467b-80f7-83424b4b49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128016"/>
            <a:ext cx="1600200" cy="60350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7"/>
            <a:ext cx="12191695" cy="146304"/>
          </a:xfrm>
          <a:prstGeom prst="rect">
            <a:avLst/>
          </a:prstGeom>
          <a:solidFill>
            <a:srgbClr val="20BE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92840" y="6409944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5B6C7B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10744200" cy="731520"/>
          </a:xfrm>
          <a:prstGeom prst="roundRect">
            <a:avLst/>
          </a:prstGeom>
          <a:solidFill>
            <a:srgbClr val="E8F5FA"/>
          </a:solidFill>
          <a:ln>
            <a:solidFill>
              <a:srgbClr val="BE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536192"/>
            <a:ext cx="10287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0B1F37"/>
                </a:solidFill>
                <a:latin typeface="Aptos"/>
              </a:defRPr>
            </a:pPr>
            <a:r>
              <a:t>A machine-learning system that predicts food demand and supports better preparation planning.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23160"/>
            <a:ext cx="24688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2423160"/>
            <a:ext cx="68580" cy="1965960"/>
          </a:xfrm>
          <a:prstGeom prst="rect">
            <a:avLst/>
          </a:prstGeom>
          <a:solidFill>
            <a:srgbClr val="137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1832" y="2587752"/>
            <a:ext cx="2103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B1F37"/>
                </a:solidFill>
                <a:latin typeface="Aptos"/>
              </a:defRPr>
            </a:pPr>
            <a:r>
              <a:t>Predict demand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3063239"/>
            <a:ext cx="2084832" cy="12070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F2B39"/>
                </a:solidFill>
                <a:latin typeface="Aptos"/>
              </a:defRPr>
            </a:pPr>
            <a:r>
              <a:t>Use historical order patterns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2423160"/>
            <a:ext cx="24688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474720" y="2423160"/>
            <a:ext cx="68580" cy="1965960"/>
          </a:xfrm>
          <a:prstGeom prst="rect">
            <a:avLst/>
          </a:prstGeom>
          <a:solidFill>
            <a:srgbClr val="EF9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85032" y="2587752"/>
            <a:ext cx="2103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B1F37"/>
                </a:solidFill>
                <a:latin typeface="Aptos"/>
              </a:defRPr>
            </a:pPr>
            <a:r>
              <a:t>Estimate difference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2" y="3063239"/>
            <a:ext cx="2084832" cy="12070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F2B39"/>
                </a:solidFill>
                <a:latin typeface="Aptos"/>
              </a:defRPr>
            </a:pPr>
            <a:r>
              <a:t>Planned quantity vs prediction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423160"/>
            <a:ext cx="24688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2423160"/>
            <a:ext cx="68580" cy="1965960"/>
          </a:xfrm>
          <a:prstGeom prst="rect">
            <a:avLst/>
          </a:prstGeom>
          <a:solidFill>
            <a:srgbClr val="27A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28232" y="2587752"/>
            <a:ext cx="2103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B1F37"/>
                </a:solidFill>
                <a:latin typeface="Aptos"/>
              </a:defRPr>
            </a:pPr>
            <a:r>
              <a:t>Recommend quantity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3063239"/>
            <a:ext cx="2084832" cy="12070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F2B39"/>
                </a:solidFill>
                <a:latin typeface="Aptos"/>
              </a:defRPr>
            </a:pPr>
            <a:r>
              <a:t>Apply an optional safety buffer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0" y="2423160"/>
            <a:ext cx="24688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961120" y="2423160"/>
            <a:ext cx="68580" cy="1965960"/>
          </a:xfrm>
          <a:prstGeom prst="rect">
            <a:avLst/>
          </a:prstGeom>
          <a:solidFill>
            <a:srgbClr val="1C9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71432" y="2587752"/>
            <a:ext cx="2103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B1F37"/>
                </a:solidFill>
                <a:latin typeface="Aptos"/>
              </a:defRPr>
            </a:pPr>
            <a:r>
              <a:t>Support decisions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71432" y="3063239"/>
            <a:ext cx="2084832" cy="12070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F2B39"/>
                </a:solidFill>
                <a:latin typeface="Aptos"/>
              </a:defRPr>
            </a:pPr>
            <a:r>
              <a:t>Help reduce over-preparation and shortage risk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983480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5B6C7B"/>
                </a:solidFill>
                <a:latin typeface="Aptos"/>
              </a:defRPr>
            </a:pPr>
            <a:r>
              <a:t>Important: “potential surplus” is an estimate from planned quantity and predicted demand — it is not measured food waste.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89611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0B1F37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04672"/>
            <a:ext cx="8869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5B6C7B"/>
                </a:solidFill>
                <a:latin typeface="Aptos"/>
              </a:defRPr>
            </a:pPr>
            <a:r>
              <a:t>How much food should we prepare?</a:t>
            </a:r>
          </a:p>
        </p:txBody>
      </p:sp>
      <p:pic>
        <p:nvPicPr>
          <p:cNvPr id="5" name="Picture 4" descr="ddf9e344-4785-467b-80f7-83424b4b49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128016"/>
            <a:ext cx="1600200" cy="60350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7"/>
            <a:ext cx="12191695" cy="146304"/>
          </a:xfrm>
          <a:prstGeom prst="rect">
            <a:avLst/>
          </a:prstGeom>
          <a:solidFill>
            <a:srgbClr val="20BE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92840" y="6409944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5B6C7B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33832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417320"/>
            <a:ext cx="68580" cy="3566160"/>
          </a:xfrm>
          <a:prstGeom prst="rect">
            <a:avLst/>
          </a:prstGeom>
          <a:solidFill>
            <a:srgbClr val="EF9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1581912"/>
            <a:ext cx="3017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0B1F37"/>
                </a:solidFill>
                <a:latin typeface="Aptos"/>
              </a:defRPr>
            </a:pPr>
            <a:r>
              <a:t>Too Much Food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057400"/>
            <a:ext cx="2999232" cy="2807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1F2B39"/>
                </a:solidFill>
                <a:latin typeface="Aptos"/>
              </a:defRPr>
            </a:pPr>
            <a:r>
              <a:t>• Potential surplus</a:t>
            </a:r>
            <a:br/>
            <a:r>
              <a:t>• Higher preparation cost</a:t>
            </a:r>
            <a:br/>
            <a:r>
              <a:t>• Resources may be underused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417320"/>
            <a:ext cx="33832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07408" y="1417320"/>
            <a:ext cx="68580" cy="3566160"/>
          </a:xfrm>
          <a:prstGeom prst="rect">
            <a:avLst/>
          </a:prstGeom>
          <a:solidFill>
            <a:srgbClr val="137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17720" y="1581912"/>
            <a:ext cx="3017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0B1F37"/>
                </a:solidFill>
                <a:latin typeface="Aptos"/>
              </a:defRPr>
            </a:pPr>
            <a:r>
              <a:t>Uncertain Demand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057400"/>
            <a:ext cx="2999232" cy="2807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1F2B39"/>
                </a:solidFill>
                <a:latin typeface="Aptos"/>
              </a:defRPr>
            </a:pPr>
            <a:r>
              <a:t>• Demand changes by week</a:t>
            </a:r>
            <a:br/>
            <a:r>
              <a:t>• Depends on center and meal</a:t>
            </a:r>
            <a:br/>
            <a:r>
              <a:t>• Prices and promotions also vary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9016" y="1417320"/>
            <a:ext cx="33832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29016" y="1417320"/>
            <a:ext cx="68580" cy="3566160"/>
          </a:xfrm>
          <a:prstGeom prst="rect">
            <a:avLst/>
          </a:prstGeom>
          <a:solidFill>
            <a:srgbClr val="D25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39328" y="1581912"/>
            <a:ext cx="3017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0B1F37"/>
                </a:solidFill>
                <a:latin typeface="Aptos"/>
              </a:defRPr>
            </a:pPr>
            <a:r>
              <a:t>Too Little Food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2057400"/>
            <a:ext cx="2999232" cy="2807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1F2B39"/>
                </a:solidFill>
                <a:latin typeface="Aptos"/>
              </a:defRPr>
            </a:pPr>
            <a:r>
              <a:t>• Potential shortage</a:t>
            </a:r>
            <a:br/>
            <a:r>
              <a:t>• Customer dissatisfaction risk</a:t>
            </a:r>
            <a:br/>
            <a:r>
              <a:t>• Operational planning becomes harder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349240"/>
            <a:ext cx="10241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900" b="1">
                <a:solidFill>
                  <a:srgbClr val="0B1F37"/>
                </a:solidFill>
                <a:latin typeface="Aptos"/>
              </a:defRPr>
            </a:pPr>
            <a:r>
              <a:t>Goal: replace guesswork with a data-driven estimate.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89611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0B1F37"/>
                </a:solidFill>
                <a:latin typeface="Aptos"/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04672"/>
            <a:ext cx="8869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5B6C7B"/>
                </a:solidFill>
                <a:latin typeface="Aptos"/>
              </a:defRPr>
            </a:pPr>
            <a:r>
              <a:t>A machine-learning based decision-support workflow</a:t>
            </a:r>
          </a:p>
        </p:txBody>
      </p:sp>
      <p:pic>
        <p:nvPicPr>
          <p:cNvPr id="5" name="Picture 4" descr="ddf9e344-4785-467b-80f7-83424b4b49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128016"/>
            <a:ext cx="1600200" cy="60350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7"/>
            <a:ext cx="12191695" cy="146304"/>
          </a:xfrm>
          <a:prstGeom prst="rect">
            <a:avLst/>
          </a:prstGeom>
          <a:solidFill>
            <a:srgbClr val="20BE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92840" y="6409944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5B6C7B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19202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79576" y="2029968"/>
            <a:ext cx="566928" cy="566928"/>
          </a:xfrm>
          <a:prstGeom prst="ellipse">
            <a:avLst/>
          </a:prstGeom>
          <a:solidFill>
            <a:srgbClr val="137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79576" y="2048256"/>
            <a:ext cx="56692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43200"/>
            <a:ext cx="1554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0B1F37"/>
                </a:solidFill>
                <a:latin typeface="Aptos"/>
              </a:defRPr>
            </a:pPr>
            <a:r>
              <a:t>Historical</a:t>
            </a:r>
            <a:br/>
            <a:r>
              <a:t>food-order data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441448" y="2606040"/>
            <a:ext cx="283464" cy="0"/>
          </a:xfrm>
          <a:prstGeom prst="line">
            <a:avLst/>
          </a:prstGeom>
          <a:ln w="27940">
            <a:solidFill>
              <a:srgbClr val="20BE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34639" y="1828800"/>
            <a:ext cx="19202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511296" y="2029968"/>
            <a:ext cx="566928" cy="566928"/>
          </a:xfrm>
          <a:prstGeom prst="ellipse">
            <a:avLst/>
          </a:prstGeom>
          <a:solidFill>
            <a:srgbClr val="1C9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11296" y="2048256"/>
            <a:ext cx="56692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2743200"/>
            <a:ext cx="1554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0B1F37"/>
                </a:solidFill>
                <a:latin typeface="Aptos"/>
              </a:defRPr>
            </a:pPr>
            <a:r>
              <a:t>Data</a:t>
            </a:r>
            <a:br/>
            <a:r>
              <a:t>preprocessing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773168" y="2606040"/>
            <a:ext cx="283463" cy="0"/>
          </a:xfrm>
          <a:prstGeom prst="line">
            <a:avLst/>
          </a:prstGeom>
          <a:ln w="27940">
            <a:solidFill>
              <a:srgbClr val="20BE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66359" y="1828800"/>
            <a:ext cx="19202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843016" y="2029968"/>
            <a:ext cx="566928" cy="566928"/>
          </a:xfrm>
          <a:prstGeom prst="ellipse">
            <a:avLst/>
          </a:prstGeom>
          <a:solidFill>
            <a:srgbClr val="20BE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43016" y="2048256"/>
            <a:ext cx="56692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9240" y="2743200"/>
            <a:ext cx="1554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0B1F37"/>
                </a:solidFill>
                <a:latin typeface="Aptos"/>
              </a:defRPr>
            </a:pPr>
            <a:r>
              <a:t>ML model</a:t>
            </a:r>
            <a:br/>
            <a:r>
              <a:t>prediction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104888" y="2606040"/>
            <a:ext cx="283464" cy="0"/>
          </a:xfrm>
          <a:prstGeom prst="line">
            <a:avLst/>
          </a:prstGeom>
          <a:ln w="27940">
            <a:solidFill>
              <a:srgbClr val="20BE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498079" y="1828800"/>
            <a:ext cx="19202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174736" y="2029968"/>
            <a:ext cx="566928" cy="566928"/>
          </a:xfrm>
          <a:prstGeom prst="ellipse">
            <a:avLst/>
          </a:prstGeom>
          <a:solidFill>
            <a:srgbClr val="EF9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74736" y="2048256"/>
            <a:ext cx="56692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59" y="2743200"/>
            <a:ext cx="1554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0B1F37"/>
                </a:solidFill>
                <a:latin typeface="Aptos"/>
              </a:defRPr>
            </a:pPr>
            <a:r>
              <a:t>Planned vs</a:t>
            </a:r>
            <a:br/>
            <a:r>
              <a:t>predicted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436608" y="2606040"/>
            <a:ext cx="283464" cy="0"/>
          </a:xfrm>
          <a:prstGeom prst="line">
            <a:avLst/>
          </a:prstGeom>
          <a:ln w="27940">
            <a:solidFill>
              <a:srgbClr val="20BE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829800" y="1828800"/>
            <a:ext cx="19202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506456" y="2029968"/>
            <a:ext cx="566928" cy="566928"/>
          </a:xfrm>
          <a:prstGeom prst="ellipse">
            <a:avLst/>
          </a:prstGeom>
          <a:solidFill>
            <a:srgbClr val="27A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506456" y="2048256"/>
            <a:ext cx="56692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12680" y="2743200"/>
            <a:ext cx="1554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0B1F37"/>
                </a:solidFill>
                <a:latin typeface="Aptos"/>
              </a:defRPr>
            </a:pPr>
            <a:r>
              <a:t>Preparation</a:t>
            </a:r>
            <a:br/>
            <a:r>
              <a:t>recommendation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416052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14400" y="4160520"/>
            <a:ext cx="68580" cy="1417320"/>
          </a:xfrm>
          <a:prstGeom prst="rect">
            <a:avLst/>
          </a:prstGeom>
          <a:solidFill>
            <a:srgbClr val="137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124712" y="4325112"/>
            <a:ext cx="2880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B1F37"/>
                </a:solidFill>
                <a:latin typeface="Aptos"/>
              </a:defRPr>
            </a:pPr>
            <a:r>
              <a:t>Better planning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" y="4800600"/>
            <a:ext cx="2862072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F2B39"/>
                </a:solidFill>
                <a:latin typeface="Aptos"/>
              </a:defRPr>
            </a:pPr>
            <a:r>
              <a:t>Use evidence from past demand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617720" y="416052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617720" y="4160520"/>
            <a:ext cx="68580" cy="1417320"/>
          </a:xfrm>
          <a:prstGeom prst="rect">
            <a:avLst/>
          </a:prstGeom>
          <a:solidFill>
            <a:srgbClr val="EF9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828032" y="4325112"/>
            <a:ext cx="2880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B1F37"/>
                </a:solidFill>
                <a:latin typeface="Aptos"/>
              </a:defRPr>
            </a:pPr>
            <a:r>
              <a:t>Less over-preparation risk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28032" y="4800600"/>
            <a:ext cx="2862072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F2B39"/>
                </a:solidFill>
                <a:latin typeface="Aptos"/>
              </a:defRPr>
            </a:pPr>
            <a:r>
              <a:t>Compare plan with prediction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321040" y="416052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321040" y="4160520"/>
            <a:ext cx="68580" cy="1417320"/>
          </a:xfrm>
          <a:prstGeom prst="rect">
            <a:avLst/>
          </a:prstGeom>
          <a:solidFill>
            <a:srgbClr val="D25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531352" y="4325112"/>
            <a:ext cx="2880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B1F37"/>
                </a:solidFill>
                <a:latin typeface="Aptos"/>
              </a:defRPr>
            </a:pPr>
            <a:r>
              <a:t>Shortage awareness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31352" y="4800600"/>
            <a:ext cx="2862072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F2B39"/>
                </a:solidFill>
                <a:latin typeface="Aptos"/>
              </a:defRPr>
            </a:pPr>
            <a:r>
              <a:t>Identify when planned quantity is below prediction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89611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0B1F37"/>
                </a:solidFill>
                <a:latin typeface="Aptos"/>
              </a:defRPr>
            </a:pPr>
            <a:r>
              <a:t>How the System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04672"/>
            <a:ext cx="8869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5B6C7B"/>
                </a:solidFill>
                <a:latin typeface="Aptos"/>
              </a:defRPr>
            </a:pPr>
            <a:r>
              <a:t>Inputs go through the trained model and become decision-support outputs</a:t>
            </a:r>
          </a:p>
        </p:txBody>
      </p:sp>
      <p:pic>
        <p:nvPicPr>
          <p:cNvPr id="5" name="Picture 4" descr="ddf9e344-4785-467b-80f7-83424b4b49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128016"/>
            <a:ext cx="1600200" cy="60350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7"/>
            <a:ext cx="12191695" cy="146304"/>
          </a:xfrm>
          <a:prstGeom prst="rect">
            <a:avLst/>
          </a:prstGeom>
          <a:solidFill>
            <a:srgbClr val="20BE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92840" y="6409944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5B6C7B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08760"/>
            <a:ext cx="23317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508760"/>
            <a:ext cx="68580" cy="1645920"/>
          </a:xfrm>
          <a:prstGeom prst="rect">
            <a:avLst/>
          </a:prstGeom>
          <a:solidFill>
            <a:srgbClr val="137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673351"/>
            <a:ext cx="1965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B1F37"/>
                </a:solidFill>
                <a:latin typeface="Aptos"/>
              </a:defRPr>
            </a:pPr>
            <a:r>
              <a:t>User 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148839"/>
            <a:ext cx="1947672" cy="886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F2B39"/>
                </a:solidFill>
                <a:latin typeface="Aptos"/>
              </a:defRPr>
            </a:pPr>
            <a:r>
              <a:t>Center • meal • week</a:t>
            </a:r>
            <a:br/>
            <a:r>
              <a:t>prices • promotions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62072" y="2331720"/>
            <a:ext cx="411480" cy="0"/>
          </a:xfrm>
          <a:prstGeom prst="line">
            <a:avLst/>
          </a:prstGeom>
          <a:ln w="25400">
            <a:solidFill>
              <a:srgbClr val="20BE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383280" y="1508760"/>
            <a:ext cx="23317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83280" y="1508760"/>
            <a:ext cx="68580" cy="1645920"/>
          </a:xfrm>
          <a:prstGeom prst="rect">
            <a:avLst/>
          </a:prstGeom>
          <a:solidFill>
            <a:srgbClr val="1C9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93592" y="1673351"/>
            <a:ext cx="1965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B1F37"/>
                </a:solidFill>
                <a:latin typeface="Aptos"/>
              </a:defRPr>
            </a:pPr>
            <a:r>
              <a:t>Data Transformation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3592" y="2148839"/>
            <a:ext cx="1947672" cy="886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F2B39"/>
                </a:solidFill>
                <a:latin typeface="Aptos"/>
              </a:defRPr>
            </a:pPr>
            <a:r>
              <a:t>One-hot encoding +</a:t>
            </a:r>
            <a:br/>
            <a:r>
              <a:t>numeric features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742432" y="2331720"/>
            <a:ext cx="411480" cy="0"/>
          </a:xfrm>
          <a:prstGeom prst="line">
            <a:avLst/>
          </a:prstGeom>
          <a:ln w="25400">
            <a:solidFill>
              <a:srgbClr val="20BE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263640" y="1508760"/>
            <a:ext cx="23317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63640" y="1508760"/>
            <a:ext cx="68580" cy="1645920"/>
          </a:xfrm>
          <a:prstGeom prst="rect">
            <a:avLst/>
          </a:prstGeom>
          <a:solidFill>
            <a:srgbClr val="20BE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73952" y="1673351"/>
            <a:ext cx="1965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B1F37"/>
                </a:solidFill>
                <a:latin typeface="Aptos"/>
              </a:defRPr>
            </a:pPr>
            <a:r>
              <a:t>Trained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2148839"/>
            <a:ext cx="1947672" cy="886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F2B39"/>
                </a:solidFill>
                <a:latin typeface="Aptos"/>
              </a:defRPr>
            </a:pPr>
            <a:r>
              <a:t>Gradient Boosting</a:t>
            </a:r>
            <a:br/>
            <a:r>
              <a:t>Regressor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622792" y="2331720"/>
            <a:ext cx="411480" cy="0"/>
          </a:xfrm>
          <a:prstGeom prst="line">
            <a:avLst/>
          </a:prstGeom>
          <a:ln w="25400">
            <a:solidFill>
              <a:srgbClr val="20BE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144000" y="1508760"/>
            <a:ext cx="23317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4000" y="1508760"/>
            <a:ext cx="68580" cy="1645920"/>
          </a:xfrm>
          <a:prstGeom prst="rect">
            <a:avLst/>
          </a:prstGeom>
          <a:solidFill>
            <a:srgbClr val="27A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354312" y="1673351"/>
            <a:ext cx="1965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B1F37"/>
                </a:solidFill>
                <a:latin typeface="Aptos"/>
              </a:defRPr>
            </a:pPr>
            <a:r>
              <a:t>Predicted Demand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54312" y="2148839"/>
            <a:ext cx="1947672" cy="886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F2B39"/>
                </a:solidFill>
                <a:latin typeface="Aptos"/>
              </a:defRPr>
            </a:pPr>
            <a:r>
              <a:t>Expected number</a:t>
            </a:r>
            <a:br/>
            <a:r>
              <a:t>of orders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0120" y="3840480"/>
            <a:ext cx="31546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60120" y="3840480"/>
            <a:ext cx="68580" cy="1508760"/>
          </a:xfrm>
          <a:prstGeom prst="rect">
            <a:avLst/>
          </a:prstGeom>
          <a:solidFill>
            <a:srgbClr val="EF9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70432" y="4005072"/>
            <a:ext cx="2788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B1F37"/>
                </a:solidFill>
                <a:latin typeface="Aptos"/>
              </a:defRPr>
            </a:pPr>
            <a:r>
              <a:t>Compare with Plan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" y="4480560"/>
            <a:ext cx="2770632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F2B39"/>
                </a:solidFill>
                <a:latin typeface="Aptos"/>
              </a:defRPr>
            </a:pPr>
            <a:r>
              <a:t>Planned quantity</a:t>
            </a:r>
            <a:br/>
            <a:r>
              <a:t>vs predicted demand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142232" y="4572000"/>
            <a:ext cx="347472" cy="0"/>
          </a:xfrm>
          <a:prstGeom prst="line">
            <a:avLst/>
          </a:prstGeom>
          <a:ln w="25400">
            <a:solidFill>
              <a:srgbClr val="20BE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617720" y="3840480"/>
            <a:ext cx="31546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617720" y="3840480"/>
            <a:ext cx="68580" cy="1508760"/>
          </a:xfrm>
          <a:prstGeom prst="rect">
            <a:avLst/>
          </a:prstGeom>
          <a:solidFill>
            <a:srgbClr val="D25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828032" y="4005072"/>
            <a:ext cx="2788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B1F37"/>
                </a:solidFill>
                <a:latin typeface="Aptos"/>
              </a:defRPr>
            </a:pPr>
            <a:r>
              <a:t>Potential Surplus / Shortage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28032" y="4480560"/>
            <a:ext cx="2770632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F2B39"/>
                </a:solidFill>
                <a:latin typeface="Aptos"/>
              </a:defRPr>
            </a:pPr>
            <a:r>
              <a:t>Positive = surplus</a:t>
            </a:r>
            <a:br/>
            <a:r>
              <a:t>Negative = shortage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799831" y="4572000"/>
            <a:ext cx="347473" cy="0"/>
          </a:xfrm>
          <a:prstGeom prst="line">
            <a:avLst/>
          </a:prstGeom>
          <a:ln w="25400">
            <a:solidFill>
              <a:srgbClr val="20BE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8275320" y="3840480"/>
            <a:ext cx="31546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275320" y="3840480"/>
            <a:ext cx="68580" cy="1508760"/>
          </a:xfrm>
          <a:prstGeom prst="rect">
            <a:avLst/>
          </a:prstGeom>
          <a:solidFill>
            <a:srgbClr val="27A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85632" y="4005072"/>
            <a:ext cx="2788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B1F37"/>
                </a:solidFill>
                <a:latin typeface="Aptos"/>
              </a:defRPr>
            </a:pPr>
            <a:r>
              <a:t>Recommended Quantity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85632" y="4480560"/>
            <a:ext cx="2770632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F2B39"/>
                </a:solidFill>
                <a:latin typeface="Aptos"/>
              </a:defRPr>
            </a:pPr>
            <a:r>
              <a:t>Prediction +</a:t>
            </a:r>
            <a:br/>
            <a:r>
              <a:t>optional safety buffer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89611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0B1F37"/>
                </a:solidFill>
                <a:latin typeface="Aptos"/>
              </a:defRPr>
            </a:pPr>
            <a:r>
              <a:t>Dataset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04672"/>
            <a:ext cx="8869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5B6C7B"/>
                </a:solidFill>
                <a:latin typeface="Aptos"/>
              </a:defRPr>
            </a:pPr>
            <a:r>
              <a:t>Historical food-order data used for model training and testing</a:t>
            </a:r>
          </a:p>
        </p:txBody>
      </p:sp>
      <p:pic>
        <p:nvPicPr>
          <p:cNvPr id="5" name="Picture 4" descr="ddf9e344-4785-467b-80f7-83424b4b49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128016"/>
            <a:ext cx="1600200" cy="60350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7"/>
            <a:ext cx="12191695" cy="146304"/>
          </a:xfrm>
          <a:prstGeom prst="rect">
            <a:avLst/>
          </a:prstGeom>
          <a:solidFill>
            <a:srgbClr val="20BE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92840" y="6409944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5B6C7B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19659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581912"/>
            <a:ext cx="1691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1375BF"/>
                </a:solidFill>
                <a:latin typeface="Aptos"/>
              </a:defRPr>
            </a:pPr>
            <a:r>
              <a:t>1,999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65960"/>
            <a:ext cx="1691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5B6C7B"/>
                </a:solidFill>
                <a:latin typeface="Aptos"/>
              </a:defRPr>
            </a:pPr>
            <a:r>
              <a:t>Total records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1371600"/>
            <a:ext cx="19659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26079" y="1581912"/>
            <a:ext cx="1691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1C9E97"/>
                </a:solidFill>
                <a:latin typeface="Aptos"/>
              </a:defRPr>
            </a:pPr>
            <a:r>
              <a:t>77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79" y="1965960"/>
            <a:ext cx="1691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5B6C7B"/>
                </a:solidFill>
                <a:latin typeface="Aptos"/>
              </a:defRPr>
            </a:pPr>
            <a:r>
              <a:t>Centers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74920" y="1371600"/>
            <a:ext cx="19659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12080" y="1581912"/>
            <a:ext cx="1691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EF9D35"/>
                </a:solidFill>
                <a:latin typeface="Aptos"/>
              </a:defRPr>
            </a:pPr>
            <a:r>
              <a:t>51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1965960"/>
            <a:ext cx="1691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5B6C7B"/>
                </a:solidFill>
                <a:latin typeface="Aptos"/>
              </a:defRPr>
            </a:pPr>
            <a:r>
              <a:t>Meals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0920" y="1371600"/>
            <a:ext cx="19659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0" y="1581912"/>
            <a:ext cx="1691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27A66A"/>
                </a:solidFill>
                <a:latin typeface="Aptos"/>
              </a:defRPr>
            </a:pPr>
            <a:r>
              <a:t>145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0" y="1965960"/>
            <a:ext cx="1691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5B6C7B"/>
                </a:solidFill>
                <a:latin typeface="Aptos"/>
              </a:defRPr>
            </a:pPr>
            <a:r>
              <a:t>Weeks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46920" y="1371600"/>
            <a:ext cx="19659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784080" y="1581912"/>
            <a:ext cx="1691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0B1F37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1965960"/>
            <a:ext cx="1691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5B6C7B"/>
                </a:solidFill>
                <a:latin typeface="Aptos"/>
              </a:defRPr>
            </a:pPr>
            <a:r>
              <a:t>Original columns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2880360"/>
          <a:ext cx="10789920" cy="315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32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Column</a:t>
                      </a:r>
                    </a:p>
                  </a:txBody>
                  <a:tcPr>
                    <a:solidFill>
                      <a:srgbClr val="1375B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Meaning</a:t>
                      </a:r>
                    </a:p>
                  </a:txBody>
                  <a:tcPr>
                    <a:solidFill>
                      <a:srgbClr val="1375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2B39"/>
                          </a:solidFill>
                        </a:defRPr>
                      </a:pPr>
                      <a:r>
                        <a:t>week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2B39"/>
                          </a:solidFill>
                        </a:defRPr>
                      </a:pPr>
                      <a:r>
                        <a:t>Week number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2B39"/>
                          </a:solidFill>
                        </a:defRPr>
                      </a:pPr>
                      <a:r>
                        <a:t>center_id</a:t>
                      </a:r>
                    </a:p>
                  </a:txBody>
                  <a:tcPr>
                    <a:solidFill>
                      <a:srgbClr val="E8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2B39"/>
                          </a:solidFill>
                        </a:defRPr>
                      </a:pPr>
                      <a:r>
                        <a:t>Center / location</a:t>
                      </a:r>
                    </a:p>
                  </a:txBody>
                  <a:tcPr>
                    <a:solidFill>
                      <a:srgbClr val="E8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2B39"/>
                          </a:solidFill>
                        </a:defRPr>
                      </a:pPr>
                      <a:r>
                        <a:t>meal_id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2B39"/>
                          </a:solidFill>
                        </a:defRPr>
                      </a:pPr>
                      <a:r>
                        <a:t>Meal type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2B39"/>
                          </a:solidFill>
                        </a:defRPr>
                      </a:pPr>
                      <a:r>
                        <a:t>checkout_price</a:t>
                      </a:r>
                    </a:p>
                  </a:txBody>
                  <a:tcPr>
                    <a:solidFill>
                      <a:srgbClr val="E8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2B39"/>
                          </a:solidFill>
                        </a:defRPr>
                      </a:pPr>
                      <a:r>
                        <a:t>Price of meal</a:t>
                      </a:r>
                    </a:p>
                  </a:txBody>
                  <a:tcPr>
                    <a:solidFill>
                      <a:srgbClr val="E8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2B39"/>
                          </a:solidFill>
                        </a:defRPr>
                      </a:pPr>
                      <a:r>
                        <a:t>base_price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2B39"/>
                          </a:solidFill>
                        </a:defRPr>
                      </a:pPr>
                      <a:r>
                        <a:t>Original price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2B39"/>
                          </a:solidFill>
                        </a:defRPr>
                      </a:pPr>
                      <a:r>
                        <a:t>emailer_for_promotion</a:t>
                      </a:r>
                    </a:p>
                  </a:txBody>
                  <a:tcPr>
                    <a:solidFill>
                      <a:srgbClr val="E8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2B39"/>
                          </a:solidFill>
                        </a:defRPr>
                      </a:pPr>
                      <a:r>
                        <a:t>Email promotion (Yes/No)</a:t>
                      </a:r>
                    </a:p>
                  </a:txBody>
                  <a:tcPr>
                    <a:solidFill>
                      <a:srgbClr val="E8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2B39"/>
                          </a:solidFill>
                        </a:defRPr>
                      </a:pPr>
                      <a:r>
                        <a:t>homepage_featured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2B39"/>
                          </a:solidFill>
                        </a:defRPr>
                      </a:pPr>
                      <a:r>
                        <a:t>Homepage promotion (Yes/No)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2B39"/>
                          </a:solidFill>
                        </a:defRPr>
                      </a:pPr>
                      <a:r>
                        <a:t>num_orders</a:t>
                      </a:r>
                    </a:p>
                  </a:txBody>
                  <a:tcPr>
                    <a:solidFill>
                      <a:srgbClr val="E8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2B39"/>
                          </a:solidFill>
                        </a:defRPr>
                      </a:pPr>
                      <a:r>
                        <a:t>Number of orders — target</a:t>
                      </a:r>
                    </a:p>
                  </a:txBody>
                  <a:tcPr>
                    <a:solidFill>
                      <a:srgbClr val="E8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89611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0B1F37"/>
                </a:solidFill>
                <a:latin typeface="Aptos"/>
              </a:defRPr>
            </a:pPr>
            <a:r>
              <a:t>Exploratory Data Analysis (EDA)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04672"/>
            <a:ext cx="8869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5B6C7B"/>
                </a:solidFill>
                <a:latin typeface="Aptos"/>
              </a:defRPr>
            </a:pPr>
            <a:r>
              <a:t>What we learned before training the model</a:t>
            </a:r>
          </a:p>
        </p:txBody>
      </p:sp>
      <p:pic>
        <p:nvPicPr>
          <p:cNvPr id="5" name="Picture 4" descr="ddf9e344-4785-467b-80f7-83424b4b49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128016"/>
            <a:ext cx="1600200" cy="60350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7"/>
            <a:ext cx="12191695" cy="146304"/>
          </a:xfrm>
          <a:prstGeom prst="rect">
            <a:avLst/>
          </a:prstGeom>
          <a:solidFill>
            <a:srgbClr val="20BE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92840" y="6409944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5B6C7B"/>
                </a:solidFill>
                <a:latin typeface="Aptos"/>
              </a:defRPr>
            </a:pPr>
            <a:r>
              <a:t>8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85800" y="1508760"/>
          <a:ext cx="3657600" cy="2971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914400" y="4553712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0B1F37"/>
                </a:solidFill>
                <a:latin typeface="Aptos"/>
              </a:defRPr>
            </a:pPr>
            <a:r>
              <a:t>Top meals by average demand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508760"/>
            <a:ext cx="306324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17720" y="1508760"/>
            <a:ext cx="68580" cy="3337560"/>
          </a:xfrm>
          <a:prstGeom prst="rect">
            <a:avLst/>
          </a:prstGeom>
          <a:solidFill>
            <a:srgbClr val="EF9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28032" y="1673351"/>
            <a:ext cx="2697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0B1F37"/>
                </a:solidFill>
                <a:latin typeface="Aptos"/>
              </a:defRPr>
            </a:pPr>
            <a:r>
              <a:t>Demand distribution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8032" y="2148839"/>
            <a:ext cx="2679192" cy="2578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F2B39"/>
                </a:solidFill>
                <a:latin typeface="Aptos"/>
              </a:defRPr>
            </a:pPr>
            <a:r>
              <a:t>Mean: 258.34</a:t>
            </a:r>
            <a:br/>
            <a:r>
              <a:t>Median: 148</a:t>
            </a:r>
            <a:br/>
            <a:r>
              <a:t>Minimum: 13</a:t>
            </a:r>
            <a:br/>
            <a:r>
              <a:t>Maximum: 12,137</a:t>
            </a:r>
            <a:br/>
            <a:br/>
            <a:r>
              <a:t>The target is strongly right-skewed, meaning a smaller number of observations have very high demand.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1508760"/>
            <a:ext cx="356616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909560" y="1508760"/>
            <a:ext cx="68580" cy="3337560"/>
          </a:xfrm>
          <a:prstGeom prst="rect">
            <a:avLst/>
          </a:prstGeom>
          <a:solidFill>
            <a:srgbClr val="1C9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19872" y="1673351"/>
            <a:ext cx="3200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0B1F37"/>
                </a:solidFill>
                <a:latin typeface="Aptos"/>
              </a:defRPr>
            </a:pPr>
            <a:r>
              <a:t>Promotion association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2148839"/>
            <a:ext cx="3182112" cy="2578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F2B39"/>
                </a:solidFill>
                <a:latin typeface="Aptos"/>
              </a:defRPr>
            </a:pPr>
            <a:r>
              <a:t>Email promotion:</a:t>
            </a:r>
            <a:br/>
            <a:r>
              <a:t>No → 226.62 avg orders</a:t>
            </a:r>
            <a:br/>
            <a:r>
              <a:t>Yes → 641.01 avg orders</a:t>
            </a:r>
            <a:br/>
            <a:br/>
            <a:r>
              <a:t>Homepage featured:</a:t>
            </a:r>
            <a:br/>
            <a:r>
              <a:t>No → 220.26</a:t>
            </a:r>
            <a:br/>
            <a:r>
              <a:t>Yes → 582.73</a:t>
            </a:r>
            <a:br/>
            <a:br/>
            <a:r>
              <a:t>These are associations, not proof of causation.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89611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0B1F37"/>
                </a:solidFill>
                <a:latin typeface="Aptos"/>
              </a:defRPr>
            </a:pPr>
            <a:r>
              <a:t>Data Preprocessing &amp; 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04672"/>
            <a:ext cx="8869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5B6C7B"/>
                </a:solidFill>
                <a:latin typeface="Aptos"/>
              </a:defRPr>
            </a:pPr>
            <a:r>
              <a:t>Prepare the data so the model can learn useful patterns</a:t>
            </a:r>
          </a:p>
        </p:txBody>
      </p:sp>
      <p:pic>
        <p:nvPicPr>
          <p:cNvPr id="5" name="Picture 4" descr="ddf9e344-4785-467b-80f7-83424b4b49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128016"/>
            <a:ext cx="1600200" cy="60350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7"/>
            <a:ext cx="12191695" cy="146304"/>
          </a:xfrm>
          <a:prstGeom prst="rect">
            <a:avLst/>
          </a:prstGeom>
          <a:solidFill>
            <a:srgbClr val="20BE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92840" y="6409944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5B6C7B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50749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417320"/>
            <a:ext cx="68580" cy="1874519"/>
          </a:xfrm>
          <a:prstGeom prst="rect">
            <a:avLst/>
          </a:prstGeom>
          <a:solidFill>
            <a:srgbClr val="137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1581912"/>
            <a:ext cx="470915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0B1F37"/>
                </a:solidFill>
                <a:latin typeface="Aptos"/>
              </a:defRPr>
            </a:pPr>
            <a:r>
              <a:t>1  Data Quality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057400"/>
            <a:ext cx="4690872" cy="11155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F2B39"/>
                </a:solidFill>
                <a:latin typeface="Aptos"/>
              </a:defRPr>
            </a:pPr>
            <a:r>
              <a:t>No missing values</a:t>
            </a:r>
            <a:br/>
            <a:r>
              <a:t>No duplicates</a:t>
            </a:r>
            <a:br/>
            <a:r>
              <a:t>No target values ≤ 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417320"/>
            <a:ext cx="50749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72200" y="1417320"/>
            <a:ext cx="68580" cy="1874519"/>
          </a:xfrm>
          <a:prstGeom prst="rect">
            <a:avLst/>
          </a:prstGeom>
          <a:solidFill>
            <a:srgbClr val="1C9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82512" y="1581912"/>
            <a:ext cx="470915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0B1F37"/>
                </a:solidFill>
                <a:latin typeface="Aptos"/>
              </a:defRPr>
            </a:pPr>
            <a:r>
              <a:t>2  Feature Engineering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2057400"/>
            <a:ext cx="4690872" cy="11155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F2B39"/>
                </a:solidFill>
                <a:latin typeface="Aptos"/>
              </a:defRPr>
            </a:pPr>
            <a:r>
              <a:t>week_sin = sin(week)</a:t>
            </a:r>
            <a:br/>
            <a:r>
              <a:t>week_cos = cos(week)</a:t>
            </a:r>
            <a:br/>
            <a:r>
              <a:t>Capture cyclic time patterns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657600"/>
            <a:ext cx="50749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5800" y="3657600"/>
            <a:ext cx="68580" cy="1874519"/>
          </a:xfrm>
          <a:prstGeom prst="rect">
            <a:avLst/>
          </a:prstGeom>
          <a:solidFill>
            <a:srgbClr val="EF9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6112" y="3822191"/>
            <a:ext cx="470915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0B1F37"/>
                </a:solidFill>
                <a:latin typeface="Aptos"/>
              </a:defRPr>
            </a:pPr>
            <a:r>
              <a:t>3  Encoding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4297680"/>
            <a:ext cx="4690872" cy="11155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F2B39"/>
                </a:solidFill>
                <a:latin typeface="Aptos"/>
              </a:defRPr>
            </a:pPr>
            <a:r>
              <a:t>Center ID and Meal ID</a:t>
            </a:r>
            <a:br/>
            <a:r>
              <a:t>One-Hot Encoding</a:t>
            </a:r>
            <a:br/>
            <a:r>
              <a:t>Unknown categories handled safely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657600"/>
            <a:ext cx="50749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72200" y="3657600"/>
            <a:ext cx="68580" cy="1874519"/>
          </a:xfrm>
          <a:prstGeom prst="rect">
            <a:avLst/>
          </a:prstGeom>
          <a:solidFill>
            <a:srgbClr val="27A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82512" y="3822191"/>
            <a:ext cx="470915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0B1F37"/>
                </a:solidFill>
                <a:latin typeface="Aptos"/>
              </a:defRPr>
            </a:pPr>
            <a:r>
              <a:t>4  Time-Based Split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4297680"/>
            <a:ext cx="4690872" cy="11155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F2B39"/>
                </a:solidFill>
                <a:latin typeface="Aptos"/>
              </a:defRPr>
            </a:pPr>
            <a:r>
              <a:t>Weeks 1–116 → training</a:t>
            </a:r>
            <a:br/>
            <a:r>
              <a:t>Weeks 117–145 → testing</a:t>
            </a:r>
            <a:br/>
            <a:r>
              <a:t>Preserves real-world order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89611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0B1F37"/>
                </a:solidFill>
                <a:latin typeface="Aptos"/>
              </a:defRPr>
            </a:pPr>
            <a:r>
              <a:t>Machine Learning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04672"/>
            <a:ext cx="8869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5B6C7B"/>
                </a:solidFill>
                <a:latin typeface="Aptos"/>
              </a:defRPr>
            </a:pPr>
            <a:r>
              <a:t>Three regression approaches were tested</a:t>
            </a:r>
          </a:p>
        </p:txBody>
      </p:sp>
      <p:pic>
        <p:nvPicPr>
          <p:cNvPr id="5" name="Picture 4" descr="ddf9e344-4785-467b-80f7-83424b4b49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128016"/>
            <a:ext cx="1600200" cy="60350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7"/>
            <a:ext cx="12191695" cy="146304"/>
          </a:xfrm>
          <a:prstGeom prst="rect">
            <a:avLst/>
          </a:prstGeom>
          <a:solidFill>
            <a:srgbClr val="20BE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92840" y="6409944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5B6C7B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324612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508760"/>
            <a:ext cx="68580" cy="3246120"/>
          </a:xfrm>
          <a:prstGeom prst="rect">
            <a:avLst/>
          </a:prstGeom>
          <a:solidFill>
            <a:srgbClr val="137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1832" y="1673351"/>
            <a:ext cx="2880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0B1F37"/>
                </a:solidFill>
                <a:latin typeface="Aptos"/>
              </a:defRPr>
            </a:pPr>
            <a:r>
              <a:t>Random Forest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148839"/>
            <a:ext cx="2862072" cy="2487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0">
                <a:solidFill>
                  <a:srgbClr val="1F2B39"/>
                </a:solidFill>
                <a:latin typeface="Aptos"/>
              </a:defRPr>
            </a:pPr>
            <a:r>
              <a:t>MAE 129.57</a:t>
            </a:r>
            <a:br/>
            <a:r>
              <a:t>RMSE 216.50</a:t>
            </a:r>
            <a:br/>
            <a:r>
              <a:t>R² 0.4974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566160"/>
            <a:ext cx="2697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5B6C7B"/>
                </a:solidFill>
                <a:latin typeface="Aptos"/>
              </a:defRPr>
            </a:pPr>
            <a:r>
              <a:t>Ensemble of decision trees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508760"/>
            <a:ext cx="324612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34840" y="1508760"/>
            <a:ext cx="68580" cy="3246120"/>
          </a:xfrm>
          <a:prstGeom prst="rect">
            <a:avLst/>
          </a:prstGeom>
          <a:solidFill>
            <a:srgbClr val="1C9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45152" y="1673351"/>
            <a:ext cx="2880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0B1F37"/>
                </a:solidFill>
                <a:latin typeface="Aptos"/>
              </a:defRPr>
            </a:pPr>
            <a:r>
              <a:t>Extra Trees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2148839"/>
            <a:ext cx="2862072" cy="2487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0">
                <a:solidFill>
                  <a:srgbClr val="1F2B39"/>
                </a:solidFill>
                <a:latin typeface="Aptos"/>
              </a:defRPr>
            </a:pPr>
            <a:r>
              <a:t>MAE 113.72</a:t>
            </a:r>
            <a:br/>
            <a:r>
              <a:t>RMSE 202.30</a:t>
            </a:r>
            <a:br/>
            <a:r>
              <a:t>R² 0.5612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3566160"/>
            <a:ext cx="2697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5B6C7B"/>
                </a:solidFill>
                <a:latin typeface="Aptos"/>
              </a:defRPr>
            </a:pPr>
            <a:r>
              <a:t>Tree ensemble with extra randomness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508760"/>
            <a:ext cx="324612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38160" y="1508760"/>
            <a:ext cx="68580" cy="3246120"/>
          </a:xfrm>
          <a:prstGeom prst="rect">
            <a:avLst/>
          </a:prstGeom>
          <a:solidFill>
            <a:srgbClr val="27A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48472" y="1673351"/>
            <a:ext cx="2880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0B1F37"/>
                </a:solidFill>
                <a:latin typeface="Aptos"/>
              </a:defRPr>
            </a:pPr>
            <a:r>
              <a:t>Gradient Boosting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2" y="2148839"/>
            <a:ext cx="2862072" cy="2487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0">
                <a:solidFill>
                  <a:srgbClr val="1F2B39"/>
                </a:solidFill>
                <a:latin typeface="Aptos"/>
              </a:defRPr>
            </a:pPr>
            <a:r>
              <a:t>MAE 113.96</a:t>
            </a:r>
            <a:br/>
            <a:r>
              <a:t>RMSE 191.36</a:t>
            </a:r>
            <a:br/>
            <a:r>
              <a:t>R² 0.6074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566160"/>
            <a:ext cx="2697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5B6C7B"/>
                </a:solidFill>
                <a:latin typeface="Aptos"/>
              </a:defRPr>
            </a:pPr>
            <a:r>
              <a:t>Combines multiple weak learners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34440" y="5212080"/>
            <a:ext cx="9692640" cy="566928"/>
          </a:xfrm>
          <a:prstGeom prst="roundRect">
            <a:avLst/>
          </a:prstGeom>
          <a:solidFill>
            <a:srgbClr val="EBF9F5"/>
          </a:solidFill>
          <a:ln>
            <a:solidFill>
              <a:srgbClr val="B9E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417320" y="5376672"/>
            <a:ext cx="9326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1C9E97"/>
                </a:solidFill>
                <a:latin typeface="Aptos"/>
              </a:defRPr>
            </a:pPr>
            <a:r>
              <a:t>Selected: Gradient Boosting — highest R² and lowest RMSE among the tested models.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89611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0B1F37"/>
                </a:solidFill>
                <a:latin typeface="Aptos"/>
              </a:defRPr>
            </a:pPr>
            <a:r>
              <a:t>Model Performance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04672"/>
            <a:ext cx="8869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5B6C7B"/>
                </a:solidFill>
                <a:latin typeface="Aptos"/>
              </a:defRPr>
            </a:pPr>
            <a:r>
              <a:t>Evaluation on the later weeks held out as the test set</a:t>
            </a:r>
          </a:p>
        </p:txBody>
      </p:sp>
      <p:pic>
        <p:nvPicPr>
          <p:cNvPr id="5" name="Picture 4" descr="ddf9e344-4785-467b-80f7-83424b4b49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128016"/>
            <a:ext cx="1600200" cy="60350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7"/>
            <a:ext cx="12191695" cy="146304"/>
          </a:xfrm>
          <a:prstGeom prst="rect">
            <a:avLst/>
          </a:prstGeom>
          <a:solidFill>
            <a:srgbClr val="20BE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92840" y="6409944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5B6C7B"/>
                </a:solidFill>
                <a:latin typeface="Aptos"/>
              </a:defRPr>
            </a:pPr>
            <a:r>
              <a:t>11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17320"/>
          <a:ext cx="54864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446520" y="1417320"/>
            <a:ext cx="48920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46520" y="1417320"/>
            <a:ext cx="68580" cy="1143000"/>
          </a:xfrm>
          <a:prstGeom prst="rect">
            <a:avLst/>
          </a:prstGeom>
          <a:solidFill>
            <a:srgbClr val="137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56832" y="1581912"/>
            <a:ext cx="45262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B1F37"/>
                </a:solidFill>
                <a:latin typeface="Aptos"/>
              </a:defRPr>
            </a:pPr>
            <a:r>
              <a:t>MAE — 113.96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56832" y="2057400"/>
            <a:ext cx="450799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F2B39"/>
                </a:solidFill>
                <a:latin typeface="Aptos"/>
              </a:defRPr>
            </a:pPr>
            <a:r>
              <a:t>Average absolute prediction error is about 114 orders.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2788920"/>
            <a:ext cx="48920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46520" y="2788920"/>
            <a:ext cx="68580" cy="1143000"/>
          </a:xfrm>
          <a:prstGeom prst="rect">
            <a:avLst/>
          </a:prstGeom>
          <a:solidFill>
            <a:srgbClr val="EF9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56832" y="2953512"/>
            <a:ext cx="45262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B1F37"/>
                </a:solidFill>
                <a:latin typeface="Aptos"/>
              </a:defRPr>
            </a:pPr>
            <a:r>
              <a:t>RMSE — 191.36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56832" y="3429000"/>
            <a:ext cx="450799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F2B39"/>
                </a:solidFill>
                <a:latin typeface="Aptos"/>
              </a:defRPr>
            </a:pPr>
            <a:r>
              <a:t>Penalizes larger errors more strongly.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4160520"/>
            <a:ext cx="48920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46520" y="4160520"/>
            <a:ext cx="68580" cy="1143000"/>
          </a:xfrm>
          <a:prstGeom prst="rect">
            <a:avLst/>
          </a:prstGeom>
          <a:solidFill>
            <a:srgbClr val="27A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56832" y="4325112"/>
            <a:ext cx="45262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B1F37"/>
                </a:solidFill>
                <a:latin typeface="Aptos"/>
              </a:defRPr>
            </a:pPr>
            <a:r>
              <a:t>R² — 0.6074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56832" y="4800600"/>
            <a:ext cx="450799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F2B39"/>
                </a:solidFill>
                <a:latin typeface="Aptos"/>
              </a:defRPr>
            </a:pPr>
            <a:r>
              <a:t>About 60.74% of test-target variation is explained by the model.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89611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0B1F37"/>
                </a:solidFill>
                <a:latin typeface="Aptos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04672"/>
            <a:ext cx="8869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5B6C7B"/>
                </a:solidFill>
                <a:latin typeface="Aptos"/>
              </a:defRPr>
            </a:pPr>
            <a:r>
              <a:t>The main components from data to dashboard</a:t>
            </a:r>
          </a:p>
        </p:txBody>
      </p:sp>
      <p:pic>
        <p:nvPicPr>
          <p:cNvPr id="5" name="Picture 4" descr="ddf9e344-4785-467b-80f7-83424b4b49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128016"/>
            <a:ext cx="1600200" cy="60350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7"/>
            <a:ext cx="12191695" cy="146304"/>
          </a:xfrm>
          <a:prstGeom prst="rect">
            <a:avLst/>
          </a:prstGeom>
          <a:solidFill>
            <a:srgbClr val="20BE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92840" y="6409944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5B6C7B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54480"/>
            <a:ext cx="23317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554480"/>
            <a:ext cx="68580" cy="1554480"/>
          </a:xfrm>
          <a:prstGeom prst="rect">
            <a:avLst/>
          </a:prstGeom>
          <a:solidFill>
            <a:srgbClr val="137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1719072"/>
            <a:ext cx="1965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B1F37"/>
                </a:solidFill>
                <a:latin typeface="Aptos"/>
              </a:defRPr>
            </a:pPr>
            <a:r>
              <a:t>CSV Dataset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194560"/>
            <a:ext cx="1947672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F2B39"/>
                </a:solidFill>
                <a:latin typeface="Aptos"/>
              </a:defRPr>
            </a:pPr>
            <a:r>
              <a:t>Food demand.csv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44952" y="2331720"/>
            <a:ext cx="338328" cy="0"/>
          </a:xfrm>
          <a:prstGeom prst="line">
            <a:avLst/>
          </a:prstGeom>
          <a:ln w="25400">
            <a:solidFill>
              <a:srgbClr val="20BE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74720" y="1554480"/>
            <a:ext cx="23317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74720" y="1554480"/>
            <a:ext cx="68580" cy="1554480"/>
          </a:xfrm>
          <a:prstGeom prst="rect">
            <a:avLst/>
          </a:prstGeom>
          <a:solidFill>
            <a:srgbClr val="1C9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85032" y="1719072"/>
            <a:ext cx="1965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B1F37"/>
                </a:solidFill>
                <a:latin typeface="Aptos"/>
              </a:defRPr>
            </a:pPr>
            <a:r>
              <a:t>Preprocessor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85032" y="2194560"/>
            <a:ext cx="1947672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F2B39"/>
                </a:solidFill>
                <a:latin typeface="Aptos"/>
              </a:defRPr>
            </a:pPr>
            <a:r>
              <a:t>Categorical + numeric transformation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33872" y="2331720"/>
            <a:ext cx="338328" cy="0"/>
          </a:xfrm>
          <a:prstGeom prst="line">
            <a:avLst/>
          </a:prstGeom>
          <a:ln w="25400">
            <a:solidFill>
              <a:srgbClr val="20BE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263640" y="1554480"/>
            <a:ext cx="23317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63640" y="1554480"/>
            <a:ext cx="68580" cy="1554480"/>
          </a:xfrm>
          <a:prstGeom prst="rect">
            <a:avLst/>
          </a:prstGeom>
          <a:solidFill>
            <a:srgbClr val="20BE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73952" y="1719072"/>
            <a:ext cx="1965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B1F37"/>
                </a:solidFill>
                <a:latin typeface="Aptos"/>
              </a:defRPr>
            </a:pPr>
            <a:r>
              <a:t>Trained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2194560"/>
            <a:ext cx="1947672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F2B39"/>
                </a:solidFill>
                <a:latin typeface="Aptos"/>
              </a:defRPr>
            </a:pPr>
            <a:r>
              <a:t>Gradient Boosting Regressor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622792" y="2331720"/>
            <a:ext cx="338328" cy="0"/>
          </a:xfrm>
          <a:prstGeom prst="line">
            <a:avLst/>
          </a:prstGeom>
          <a:ln w="25400">
            <a:solidFill>
              <a:srgbClr val="20BE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052559" y="1554480"/>
            <a:ext cx="23317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052559" y="1554480"/>
            <a:ext cx="68580" cy="1554480"/>
          </a:xfrm>
          <a:prstGeom prst="rect">
            <a:avLst/>
          </a:prstGeom>
          <a:solidFill>
            <a:srgbClr val="27A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62872" y="1719072"/>
            <a:ext cx="1965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B1F37"/>
                </a:solidFill>
                <a:latin typeface="Aptos"/>
              </a:defRPr>
            </a:pPr>
            <a:r>
              <a:t>Streamlit App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62872" y="2194560"/>
            <a:ext cx="1947672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F2B39"/>
                </a:solidFill>
                <a:latin typeface="Aptos"/>
              </a:defRPr>
            </a:pPr>
            <a:r>
              <a:t>User inputs + prediction + charts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828800" y="3977639"/>
            <a:ext cx="30175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828800" y="3977639"/>
            <a:ext cx="68580" cy="1417320"/>
          </a:xfrm>
          <a:prstGeom prst="rect">
            <a:avLst/>
          </a:prstGeom>
          <a:solidFill>
            <a:srgbClr val="EF9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039112" y="4142231"/>
            <a:ext cx="2651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B1F37"/>
                </a:solidFill>
                <a:latin typeface="Aptos"/>
              </a:defRPr>
            </a:pPr>
            <a:r>
              <a:t>Decision Support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39112" y="4617720"/>
            <a:ext cx="2633472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F2B39"/>
                </a:solidFill>
                <a:latin typeface="Aptos"/>
              </a:defRPr>
            </a:pPr>
            <a:r>
              <a:t>Potential surplus / shortage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17720" y="3977639"/>
            <a:ext cx="30175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617720" y="3977639"/>
            <a:ext cx="68580" cy="1417320"/>
          </a:xfrm>
          <a:prstGeom prst="rect">
            <a:avLst/>
          </a:prstGeom>
          <a:solidFill>
            <a:srgbClr val="27A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828032" y="4142231"/>
            <a:ext cx="2651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B1F37"/>
                </a:solidFill>
                <a:latin typeface="Aptos"/>
              </a:defRPr>
            </a:pPr>
            <a:r>
              <a:t>Preparation Planning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28032" y="4617720"/>
            <a:ext cx="2633472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F2B39"/>
                </a:solidFill>
                <a:latin typeface="Aptos"/>
              </a:defRPr>
            </a:pPr>
            <a:r>
              <a:t>Recommended quantity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06640" y="3977639"/>
            <a:ext cx="30175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406640" y="3977639"/>
            <a:ext cx="68580" cy="1417320"/>
          </a:xfrm>
          <a:prstGeom prst="rect">
            <a:avLst/>
          </a:prstGeom>
          <a:solidFill>
            <a:srgbClr val="137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616952" y="4142231"/>
            <a:ext cx="2651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B1F37"/>
                </a:solidFill>
                <a:latin typeface="Aptos"/>
              </a:defRPr>
            </a:pPr>
            <a:r>
              <a:t>Visual Insights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16952" y="4617720"/>
            <a:ext cx="2633472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F2B39"/>
                </a:solidFill>
                <a:latin typeface="Aptos"/>
              </a:defRPr>
            </a:pPr>
            <a:r>
              <a:t>Demand level + historical trend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89611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0B1F37"/>
                </a:solidFill>
                <a:latin typeface="Aptos"/>
              </a:defRPr>
            </a:pPr>
            <a:r>
              <a:t>Streamlit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04672"/>
            <a:ext cx="8869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5B6C7B"/>
                </a:solidFill>
                <a:latin typeface="Aptos"/>
              </a:defRPr>
            </a:pPr>
            <a:r>
              <a:t>An easy-to-use web dashboard for food demand forecasting</a:t>
            </a:r>
          </a:p>
        </p:txBody>
      </p:sp>
      <p:pic>
        <p:nvPicPr>
          <p:cNvPr id="5" name="Picture 4" descr="ddf9e344-4785-467b-80f7-83424b4b49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128016"/>
            <a:ext cx="1600200" cy="60350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7"/>
            <a:ext cx="12191695" cy="146304"/>
          </a:xfrm>
          <a:prstGeom prst="rect">
            <a:avLst/>
          </a:prstGeom>
          <a:solidFill>
            <a:srgbClr val="20BE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92840" y="6409944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5B6C7B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25880"/>
            <a:ext cx="65836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49808" y="1481328"/>
            <a:ext cx="1143000" cy="4206240"/>
          </a:xfrm>
          <a:prstGeom prst="roundRect">
            <a:avLst/>
          </a:prstGeom>
          <a:solidFill>
            <a:srgbClr val="0B1F37"/>
          </a:solidFill>
          <a:ln>
            <a:solidFill>
              <a:srgbClr val="28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" y="1783080"/>
            <a:ext cx="914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Food</a:t>
            </a:r>
            <a:br/>
            <a:r>
              <a:t>Demand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743200"/>
            <a:ext cx="868680" cy="365760"/>
          </a:xfrm>
          <a:prstGeom prst="roundRect">
            <a:avLst/>
          </a:prstGeom>
          <a:solidFill>
            <a:srgbClr val="183750"/>
          </a:solidFill>
          <a:ln>
            <a:solidFill>
              <a:srgbClr val="3C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" y="2834640"/>
            <a:ext cx="822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ptos"/>
              </a:defRPr>
            </a:pPr>
            <a:r>
              <a:t>Home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10128"/>
            <a:ext cx="868680" cy="365760"/>
          </a:xfrm>
          <a:prstGeom prst="roundRect">
            <a:avLst/>
          </a:prstGeom>
          <a:solidFill>
            <a:srgbClr val="183750"/>
          </a:solidFill>
          <a:ln>
            <a:solidFill>
              <a:srgbClr val="3C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3401568"/>
            <a:ext cx="822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ptos"/>
              </a:defRPr>
            </a:pPr>
            <a:r>
              <a:t>Prediction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3877056"/>
            <a:ext cx="868680" cy="365760"/>
          </a:xfrm>
          <a:prstGeom prst="roundRect">
            <a:avLst/>
          </a:prstGeom>
          <a:solidFill>
            <a:srgbClr val="183750"/>
          </a:solidFill>
          <a:ln>
            <a:solidFill>
              <a:srgbClr val="3C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6112" y="3968496"/>
            <a:ext cx="822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ptos"/>
              </a:defRPr>
            </a:pPr>
            <a:r>
              <a:t>About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1691640"/>
            <a:ext cx="4297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0B1F37"/>
                </a:solidFill>
                <a:latin typeface="Aptos"/>
              </a:defRPr>
            </a:pPr>
            <a:r>
              <a:t>Food Demand Forecasting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8840" y="2331720"/>
            <a:ext cx="1188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B6C7B"/>
                </a:solidFill>
                <a:latin typeface="Aptos"/>
              </a:defRPr>
            </a:pPr>
            <a:r>
              <a:t>Center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08960" y="2295144"/>
            <a:ext cx="1234440" cy="320040"/>
          </a:xfrm>
          <a:prstGeom prst="roundRect">
            <a:avLst/>
          </a:prstGeom>
          <a:solidFill>
            <a:srgbClr val="E8F5FA"/>
          </a:solidFill>
          <a:ln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172968" y="2350008"/>
            <a:ext cx="1097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1F2B39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2331720"/>
            <a:ext cx="1188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B6C7B"/>
                </a:solidFill>
                <a:latin typeface="Aptos"/>
              </a:defRPr>
            </a:pPr>
            <a:r>
              <a:t>Meal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40680" y="2295144"/>
            <a:ext cx="1234440" cy="320040"/>
          </a:xfrm>
          <a:prstGeom prst="roundRect">
            <a:avLst/>
          </a:prstGeom>
          <a:solidFill>
            <a:srgbClr val="E8F5FA"/>
          </a:solidFill>
          <a:ln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504688" y="2350008"/>
            <a:ext cx="1097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1F2B39"/>
                </a:solidFill>
                <a:latin typeface="Aptos"/>
              </a:defRPr>
            </a:pPr>
            <a:r>
              <a:t>Lunch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48840" y="3017520"/>
            <a:ext cx="1188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B6C7B"/>
                </a:solidFill>
                <a:latin typeface="Aptos"/>
              </a:defRPr>
            </a:pPr>
            <a:r>
              <a:t>Week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108960" y="2980944"/>
            <a:ext cx="1234440" cy="320040"/>
          </a:xfrm>
          <a:prstGeom prst="roundRect">
            <a:avLst/>
          </a:prstGeom>
          <a:solidFill>
            <a:srgbClr val="E8F5FA"/>
          </a:solidFill>
          <a:ln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172968" y="3035808"/>
            <a:ext cx="1097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1F2B39"/>
                </a:solidFill>
                <a:latin typeface="Aptos"/>
              </a:defRPr>
            </a:pPr>
            <a:r>
              <a:t>80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3017520"/>
            <a:ext cx="1188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B6C7B"/>
                </a:solidFill>
                <a:latin typeface="Aptos"/>
              </a:defRPr>
            </a:pPr>
            <a:r>
              <a:t>Checkout Price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40680" y="2980944"/>
            <a:ext cx="1234440" cy="320040"/>
          </a:xfrm>
          <a:prstGeom prst="roundRect">
            <a:avLst/>
          </a:prstGeom>
          <a:solidFill>
            <a:srgbClr val="E8F5FA"/>
          </a:solidFill>
          <a:ln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504688" y="3035808"/>
            <a:ext cx="1097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1F2B39"/>
                </a:solidFill>
                <a:latin typeface="Aptos"/>
              </a:defRPr>
            </a:pPr>
            <a:r>
              <a:t>₹7.00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48840" y="3703320"/>
            <a:ext cx="1188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B6C7B"/>
                </a:solidFill>
                <a:latin typeface="Aptos"/>
              </a:defRPr>
            </a:pPr>
            <a:r>
              <a:t>Base Price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108960" y="3666744"/>
            <a:ext cx="1234440" cy="320040"/>
          </a:xfrm>
          <a:prstGeom prst="roundRect">
            <a:avLst/>
          </a:prstGeom>
          <a:solidFill>
            <a:srgbClr val="E8F5FA"/>
          </a:solidFill>
          <a:ln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172968" y="3721607"/>
            <a:ext cx="1097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1F2B39"/>
                </a:solidFill>
                <a:latin typeface="Aptos"/>
              </a:defRPr>
            </a:pPr>
            <a:r>
              <a:t>₹7.00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3703320"/>
            <a:ext cx="1188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B6C7B"/>
                </a:solidFill>
                <a:latin typeface="Aptos"/>
              </a:defRPr>
            </a:pPr>
            <a:r>
              <a:t>Planned Quantity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40680" y="3666744"/>
            <a:ext cx="1234440" cy="320040"/>
          </a:xfrm>
          <a:prstGeom prst="roundRect">
            <a:avLst/>
          </a:prstGeom>
          <a:solidFill>
            <a:srgbClr val="E8F5FA"/>
          </a:solidFill>
          <a:ln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504688" y="3721607"/>
            <a:ext cx="1097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1F2B39"/>
                </a:solidFill>
                <a:latin typeface="Aptos"/>
              </a:defRPr>
            </a:pPr>
            <a:r>
              <a:t>550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83280" y="4480560"/>
            <a:ext cx="2194560" cy="411480"/>
          </a:xfrm>
          <a:prstGeom prst="roundRect">
            <a:avLst/>
          </a:prstGeom>
          <a:solidFill>
            <a:srgbClr val="1375BF"/>
          </a:solidFill>
          <a:ln>
            <a:solidFill>
              <a:srgbClr val="1375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383280" y="4590288"/>
            <a:ext cx="2194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Predict Demand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543800" y="1463040"/>
            <a:ext cx="38862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543800" y="1463040"/>
            <a:ext cx="68580" cy="1143000"/>
          </a:xfrm>
          <a:prstGeom prst="rect">
            <a:avLst/>
          </a:prstGeom>
          <a:solidFill>
            <a:srgbClr val="137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754112" y="1627632"/>
            <a:ext cx="35204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0B1F37"/>
                </a:solidFill>
                <a:latin typeface="Aptos"/>
              </a:defRPr>
            </a:pPr>
            <a:r>
              <a:t>Predicted Demand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54112" y="2103120"/>
            <a:ext cx="350215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1F2B39"/>
                </a:solidFill>
                <a:latin typeface="Aptos"/>
              </a:defRPr>
            </a:pPr>
            <a:r>
              <a:t>500 meals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543800" y="2788920"/>
            <a:ext cx="38862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543800" y="2788920"/>
            <a:ext cx="68580" cy="1143000"/>
          </a:xfrm>
          <a:prstGeom prst="rect">
            <a:avLst/>
          </a:prstGeom>
          <a:solidFill>
            <a:srgbClr val="EF9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754112" y="2953512"/>
            <a:ext cx="35204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0B1F37"/>
                </a:solidFill>
                <a:latin typeface="Aptos"/>
              </a:defRPr>
            </a:pPr>
            <a:r>
              <a:t>Potential Surplus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54112" y="3429000"/>
            <a:ext cx="350215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1F2B39"/>
                </a:solidFill>
                <a:latin typeface="Aptos"/>
              </a:defRPr>
            </a:pPr>
            <a:r>
              <a:t>50 meals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543800" y="4114800"/>
            <a:ext cx="38862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7543800" y="4114800"/>
            <a:ext cx="68580" cy="1143000"/>
          </a:xfrm>
          <a:prstGeom prst="rect">
            <a:avLst/>
          </a:prstGeom>
          <a:solidFill>
            <a:srgbClr val="27A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754112" y="4279392"/>
            <a:ext cx="35204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0B1F37"/>
                </a:solidFill>
                <a:latin typeface="Aptos"/>
              </a:defRPr>
            </a:pPr>
            <a:r>
              <a:t>Recommended Quantity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54112" y="4754880"/>
            <a:ext cx="350215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1F2B39"/>
                </a:solidFill>
                <a:latin typeface="Aptos"/>
              </a:defRPr>
            </a:pPr>
            <a:r>
              <a:t>550 meals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89611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0B1F37"/>
                </a:solidFill>
                <a:latin typeface="Aptos"/>
              </a:defRPr>
            </a:pPr>
            <a:r>
              <a:t>Example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04672"/>
            <a:ext cx="8869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5B6C7B"/>
                </a:solidFill>
                <a:latin typeface="Aptos"/>
              </a:defRPr>
            </a:pPr>
            <a:r>
              <a:t>A simple scenario showing how the output is interpreted</a:t>
            </a:r>
          </a:p>
        </p:txBody>
      </p:sp>
      <p:pic>
        <p:nvPicPr>
          <p:cNvPr id="5" name="Picture 4" descr="ddf9e344-4785-467b-80f7-83424b4b49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128016"/>
            <a:ext cx="1600200" cy="60350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7"/>
            <a:ext cx="12191695" cy="146304"/>
          </a:xfrm>
          <a:prstGeom prst="rect">
            <a:avLst/>
          </a:prstGeom>
          <a:solidFill>
            <a:srgbClr val="20BE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92840" y="6409944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5B6C7B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310896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371600"/>
            <a:ext cx="68580" cy="3931920"/>
          </a:xfrm>
          <a:prstGeom prst="rect">
            <a:avLst/>
          </a:prstGeom>
          <a:solidFill>
            <a:srgbClr val="137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1536192"/>
            <a:ext cx="2743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B1F37"/>
                </a:solidFill>
                <a:latin typeface="Aptos"/>
              </a:defRPr>
            </a:pPr>
            <a:r>
              <a:t>Input Details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011680"/>
            <a:ext cx="2724912" cy="3172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F2B39"/>
                </a:solidFill>
                <a:latin typeface="Aptos"/>
              </a:defRPr>
            </a:pPr>
            <a:r>
              <a:t>Center: 9</a:t>
            </a:r>
            <a:br/>
            <a:r>
              <a:t>Meal: Lunch</a:t>
            </a:r>
            <a:br/>
            <a:r>
              <a:t>Week: 80</a:t>
            </a:r>
            <a:br/>
            <a:r>
              <a:t>Checkout Price: ₹7.00</a:t>
            </a:r>
            <a:br/>
            <a:r>
              <a:t>Base Price: ₹7.00</a:t>
            </a:r>
            <a:br/>
            <a:r>
              <a:t>Email Promotion: No</a:t>
            </a:r>
            <a:br/>
            <a:r>
              <a:t>Homepage Featured: Yes</a:t>
            </a:r>
            <a:br/>
            <a:r>
              <a:t>Planned Quantity: 550</a:t>
            </a:r>
            <a:br/>
            <a:r>
              <a:t>Safety Buffer: 10%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69080" y="1371600"/>
            <a:ext cx="310896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069080" y="1371600"/>
            <a:ext cx="68580" cy="3931920"/>
          </a:xfrm>
          <a:prstGeom prst="rect">
            <a:avLst/>
          </a:prstGeom>
          <a:solidFill>
            <a:srgbClr val="27A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79392" y="1536192"/>
            <a:ext cx="2743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B1F37"/>
                </a:solidFill>
                <a:latin typeface="Aptos"/>
              </a:defRPr>
            </a:pPr>
            <a:r>
              <a:t>Prediction 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79392" y="2011680"/>
            <a:ext cx="2724912" cy="3172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1F2B39"/>
                </a:solidFill>
                <a:latin typeface="Aptos"/>
              </a:defRPr>
            </a:pPr>
            <a:r>
              <a:t>Predicted Demand</a:t>
            </a:r>
            <a:br/>
            <a:br/>
            <a:r>
              <a:t>500 meals</a:t>
            </a:r>
            <a:br/>
            <a:br/>
            <a:r>
              <a:t>Potential Surplus</a:t>
            </a:r>
            <a:br/>
            <a:br/>
            <a:r>
              <a:t>50 meals</a:t>
            </a:r>
            <a:br/>
            <a:br/>
            <a:r>
              <a:t>Recommended Quantity</a:t>
            </a:r>
            <a:br/>
            <a:br/>
            <a:r>
              <a:t>550 meals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52360" y="1371600"/>
            <a:ext cx="3977639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452360" y="1371600"/>
            <a:ext cx="68580" cy="3931920"/>
          </a:xfrm>
          <a:prstGeom prst="rect">
            <a:avLst/>
          </a:prstGeom>
          <a:solidFill>
            <a:srgbClr val="EF9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62672" y="1536192"/>
            <a:ext cx="3611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B1F37"/>
                </a:solidFill>
                <a:latin typeface="Aptos"/>
              </a:defRPr>
            </a:pPr>
            <a:r>
              <a:t>What does it mean?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2672" y="2011680"/>
            <a:ext cx="3593591" cy="3172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1F2B39"/>
                </a:solidFill>
                <a:latin typeface="Aptos"/>
              </a:defRPr>
            </a:pPr>
            <a:r>
              <a:t>The model predicts demand of about 500 meals.</a:t>
            </a:r>
            <a:br/>
            <a:br/>
            <a:r>
              <a:t>The planned quantity is 550, so the estimated difference is about 50 meals.</a:t>
            </a:r>
            <a:br/>
            <a:br/>
            <a:r>
              <a:t>This is a potential surplus estimate, not a measurement of actual food waste.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89611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0B1F37"/>
                </a:solidFill>
                <a:latin typeface="Aptos"/>
              </a:defRPr>
            </a:pPr>
            <a:r>
              <a:t>Testing, CI/CD &amp;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04672"/>
            <a:ext cx="8869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5B6C7B"/>
                </a:solidFill>
                <a:latin typeface="Aptos"/>
              </a:defRPr>
            </a:pPr>
            <a:r>
              <a:t>The project was tested and deployed through a reproducible workflow</a:t>
            </a:r>
          </a:p>
        </p:txBody>
      </p:sp>
      <p:pic>
        <p:nvPicPr>
          <p:cNvPr id="5" name="Picture 4" descr="ddf9e344-4785-467b-80f7-83424b4b49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128016"/>
            <a:ext cx="1600200" cy="60350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7"/>
            <a:ext cx="12191695" cy="146304"/>
          </a:xfrm>
          <a:prstGeom prst="rect">
            <a:avLst/>
          </a:prstGeom>
          <a:solidFill>
            <a:srgbClr val="20BE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92840" y="6409944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5B6C7B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338328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68580" cy="3886200"/>
          </a:xfrm>
          <a:prstGeom prst="rect">
            <a:avLst/>
          </a:prstGeom>
          <a:solidFill>
            <a:srgbClr val="137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0392" y="1581912"/>
            <a:ext cx="3017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B1F37"/>
                </a:solidFill>
                <a:latin typeface="Aptos"/>
              </a:defRPr>
            </a:pPr>
            <a:r>
              <a:t>Automated Testing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057400"/>
            <a:ext cx="2999232" cy="3127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1F2B39"/>
                </a:solidFill>
                <a:latin typeface="Aptos"/>
              </a:defRPr>
            </a:pPr>
            <a:r>
              <a:t>6 tests passed</a:t>
            </a:r>
            <a:br/>
            <a:r>
              <a:t>• Recommended quantity</a:t>
            </a:r>
            <a:br/>
            <a:r>
              <a:t>• Surplus / shortage</a:t>
            </a:r>
            <a:br/>
            <a:r>
              <a:t>• Demand classification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417320"/>
            <a:ext cx="338328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34840" y="1417320"/>
            <a:ext cx="68580" cy="3886200"/>
          </a:xfrm>
          <a:prstGeom prst="rect">
            <a:avLst/>
          </a:prstGeom>
          <a:solidFill>
            <a:srgbClr val="1C9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45152" y="1581912"/>
            <a:ext cx="3017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B1F37"/>
                </a:solidFill>
                <a:latin typeface="Aptos"/>
              </a:defRPr>
            </a:pPr>
            <a:r>
              <a:t>GitHub 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2057400"/>
            <a:ext cx="2999232" cy="3127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1F2B39"/>
                </a:solidFill>
                <a:latin typeface="Aptos"/>
              </a:defRPr>
            </a:pPr>
            <a:r>
              <a:t>CI pipeline</a:t>
            </a:r>
            <a:br/>
            <a:r>
              <a:t>• Syntax check</a:t>
            </a:r>
            <a:br/>
            <a:r>
              <a:t>• Pytest</a:t>
            </a:r>
            <a:br/>
            <a:r>
              <a:t>• Automated on push / PR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417320"/>
            <a:ext cx="338328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29600" y="1417320"/>
            <a:ext cx="68580" cy="3886200"/>
          </a:xfrm>
          <a:prstGeom prst="rect">
            <a:avLst/>
          </a:prstGeom>
          <a:solidFill>
            <a:srgbClr val="27A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39912" y="1581912"/>
            <a:ext cx="3017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B1F37"/>
                </a:solidFill>
                <a:latin typeface="Aptos"/>
              </a:defRPr>
            </a:pPr>
            <a:r>
              <a:t>Deployment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9912" y="2057400"/>
            <a:ext cx="2999232" cy="3127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1F2B39"/>
                </a:solidFill>
                <a:latin typeface="Aptos"/>
              </a:defRPr>
            </a:pPr>
            <a:r>
              <a:t>Streamlit Cloud</a:t>
            </a:r>
            <a:br/>
            <a:r>
              <a:t>• Main branch</a:t>
            </a:r>
            <a:br/>
            <a:r>
              <a:t>• Live web application</a:t>
            </a:r>
            <a:br/>
            <a:r>
              <a:t>• Requirements pinned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715000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0B1F37"/>
                </a:solidFill>
                <a:latin typeface="Aptos"/>
              </a:defRPr>
            </a:pPr>
            <a:r>
              <a:t>Repository: github.com/Syamkumardev/Food_Demand_Forecasting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89611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0B1F37"/>
                </a:solidFill>
                <a:latin typeface="Aptos"/>
              </a:defRPr>
            </a:pPr>
            <a:r>
              <a:t>Conclusion &amp; Future Improvements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04672"/>
            <a:ext cx="8869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5B6C7B"/>
                </a:solidFill>
                <a:latin typeface="Aptos"/>
              </a:defRPr>
            </a:pPr>
            <a:r>
              <a:t>What the project achieves and where it can go next</a:t>
            </a:r>
          </a:p>
        </p:txBody>
      </p:sp>
      <p:pic>
        <p:nvPicPr>
          <p:cNvPr id="5" name="Picture 4" descr="ddf9e344-4785-467b-80f7-83424b4b49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128016"/>
            <a:ext cx="1600200" cy="60350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7"/>
            <a:ext cx="12191695" cy="146304"/>
          </a:xfrm>
          <a:prstGeom prst="rect">
            <a:avLst/>
          </a:prstGeom>
          <a:solidFill>
            <a:srgbClr val="20BE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92840" y="6409944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5B6C7B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52578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325880"/>
            <a:ext cx="68580" cy="4251960"/>
          </a:xfrm>
          <a:prstGeom prst="rect">
            <a:avLst/>
          </a:prstGeom>
          <a:solidFill>
            <a:srgbClr val="27A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1490472"/>
            <a:ext cx="4892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B1F37"/>
                </a:solidFill>
                <a:latin typeface="Aptos"/>
              </a:defRPr>
            </a:pPr>
            <a:r>
              <a:t>Key 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1965960"/>
            <a:ext cx="4873752" cy="34930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1F2B39"/>
                </a:solidFill>
                <a:latin typeface="Aptos"/>
              </a:defRPr>
            </a:pPr>
            <a:r>
              <a:t>✓ Predict expected food demand</a:t>
            </a:r>
            <a:br/>
            <a:r>
              <a:t>✓ Compare planned vs predicted quantity</a:t>
            </a:r>
            <a:br/>
            <a:r>
              <a:t>✓ Estimate potential surplus / shortage</a:t>
            </a:r>
            <a:br/>
            <a:r>
              <a:t>✓ Add a safety buffer for preparation planning</a:t>
            </a:r>
            <a:br/>
            <a:r>
              <a:t>✓ Provide a simple Streamlit interface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25880"/>
            <a:ext cx="52578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325880"/>
            <a:ext cx="68580" cy="4251960"/>
          </a:xfrm>
          <a:prstGeom prst="rect">
            <a:avLst/>
          </a:prstGeom>
          <a:solidFill>
            <a:srgbClr val="137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28232" y="1490472"/>
            <a:ext cx="4892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B1F37"/>
                </a:solidFill>
                <a:latin typeface="Aptos"/>
              </a:defRPr>
            </a:pPr>
            <a:r>
              <a:t>Future Improvements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1965960"/>
            <a:ext cx="4873752" cy="34930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1F2B39"/>
                </a:solidFill>
                <a:latin typeface="Aptos"/>
              </a:defRPr>
            </a:pPr>
            <a:r>
              <a:t>• Include weather, holidays and events</a:t>
            </a:r>
            <a:br/>
            <a:r>
              <a:t>• Use richer historical data</a:t>
            </a:r>
            <a:br/>
            <a:r>
              <a:t>• Explore advanced forecasting models</a:t>
            </a:r>
            <a:br/>
            <a:r>
              <a:t>• Add real-time operational information</a:t>
            </a:r>
            <a:br/>
            <a:r>
              <a:t>• Support model monitoring and retraining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833872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0B1F37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5916168"/>
            <a:ext cx="4937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0">
                <a:solidFill>
                  <a:srgbClr val="5B6C7B"/>
                </a:solidFill>
                <a:latin typeface="Aptos"/>
              </a:defRPr>
            </a:pPr>
            <a:r>
              <a:t>Syam Kumar  •  CSE (AI &amp; ML)  •  NRI Institute of Technology, Vijayawada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1225</Words>
  <Application>Microsoft Office PowerPoint</Application>
  <PresentationFormat>Widescreen</PresentationFormat>
  <Paragraphs>239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Asus</dc:creator>
  <cp:keywords/>
  <dc:description>generated using python-pptx</dc:description>
  <cp:lastModifiedBy>syam kumar</cp:lastModifiedBy>
  <cp:revision>2</cp:revision>
  <dcterms:created xsi:type="dcterms:W3CDTF">2013-01-27T09:14:16Z</dcterms:created>
  <dcterms:modified xsi:type="dcterms:W3CDTF">2026-09-27T04:59:50Z</dcterms:modified>
  <cp:category/>
</cp:coreProperties>
</file>